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14b2843f94511" /><Relationship Type="http://schemas.openxmlformats.org/officeDocument/2006/relationships/extended-properties" Target="/docProps/app.xml" Id="R1862555741744a30" /><Relationship Type="http://schemas.openxmlformats.org/officeDocument/2006/relationships/officeDocument" Target="/ppt/presentation.xml" Id="Rbcc6d7bdfb424d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3b8f7003849c6"/>
  </p:sldMasterIdLst>
  <p:notesMasterIdLst>
    <p:notesMasterId xmlns:r="http://schemas.openxmlformats.org/officeDocument/2006/relationships" r:id="Rfdd92ca49be64133"/>
  </p:notesMasterIdLst>
  <p:sldIdLst>
    <p:sldId xmlns:r="http://schemas.openxmlformats.org/officeDocument/2006/relationships" id="256" r:id="Ra4daa6bb4f774193"/>
    <p:sldId xmlns:r="http://schemas.openxmlformats.org/officeDocument/2006/relationships" id="257" r:id="R8b6b143d14b149c6"/>
    <p:sldId xmlns:r="http://schemas.openxmlformats.org/officeDocument/2006/relationships" id="258" r:id="Rde96b2c8144f47d6"/>
    <p:sldId xmlns:r="http://schemas.openxmlformats.org/officeDocument/2006/relationships" id="259" r:id="Rde8671f92545499a"/>
    <p:sldId xmlns:r="http://schemas.openxmlformats.org/officeDocument/2006/relationships" id="260" r:id="R237b7f4fe1d44569"/>
    <p:sldId xmlns:r="http://schemas.openxmlformats.org/officeDocument/2006/relationships" id="261" r:id="Re08a6df5dbad48ba"/>
    <p:sldId xmlns:r="http://schemas.openxmlformats.org/officeDocument/2006/relationships" id="262" r:id="R6308958cb263477c"/>
    <p:sldId xmlns:r="http://schemas.openxmlformats.org/officeDocument/2006/relationships" id="263" r:id="Rff85686c583a4a0c"/>
    <p:sldId xmlns:r="http://schemas.openxmlformats.org/officeDocument/2006/relationships" id="264" r:id="R043b3b87d7004104"/>
    <p:sldId xmlns:r="http://schemas.openxmlformats.org/officeDocument/2006/relationships" id="265" r:id="R42b098c3baeb444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3b8f7003849c6" /><Relationship Type="http://schemas.openxmlformats.org/officeDocument/2006/relationships/theme" Target="/ppt/theme/theme1.xml" Id="Re06148f1bb914f66" /><Relationship Type="http://schemas.openxmlformats.org/officeDocument/2006/relationships/notesMaster" Target="/ppt/notesMasters/notesMaster1.xml" Id="Rfdd92ca49be64133" /><Relationship Type="http://schemas.openxmlformats.org/officeDocument/2006/relationships/presProps" Target="/ppt/presProps.xml" Id="Rfd127ec981634b53" /><Relationship Type="http://schemas.openxmlformats.org/officeDocument/2006/relationships/viewProps" Target="/ppt/viewProps.xml" Id="R18607fd521ad44f6" /><Relationship Type="http://schemas.openxmlformats.org/officeDocument/2006/relationships/tableStyles" Target="/ppt/tableStyles.xml" Id="Rfbf2269b817b45c3" /><Relationship Type="http://schemas.openxmlformats.org/officeDocument/2006/relationships/slide" Target="/ppt/slides/slide1.xml" Id="Ra4daa6bb4f774193" /><Relationship Type="http://schemas.openxmlformats.org/officeDocument/2006/relationships/slide" Target="/ppt/slides/slide2.xml" Id="R8b6b143d14b149c6" /><Relationship Type="http://schemas.openxmlformats.org/officeDocument/2006/relationships/slide" Target="/ppt/slides/slide3.xml" Id="Rde96b2c8144f47d6" /><Relationship Type="http://schemas.openxmlformats.org/officeDocument/2006/relationships/slide" Target="/ppt/slides/slide4.xml" Id="Rde8671f92545499a" /><Relationship Type="http://schemas.openxmlformats.org/officeDocument/2006/relationships/slide" Target="/ppt/slides/slide5.xml" Id="R237b7f4fe1d44569" /><Relationship Type="http://schemas.openxmlformats.org/officeDocument/2006/relationships/slide" Target="/ppt/slides/slide6.xml" Id="Re08a6df5dbad48ba" /><Relationship Type="http://schemas.openxmlformats.org/officeDocument/2006/relationships/slide" Target="/ppt/slides/slide7.xml" Id="R6308958cb263477c" /><Relationship Type="http://schemas.openxmlformats.org/officeDocument/2006/relationships/slide" Target="/ppt/slides/slide8.xml" Id="Rff85686c583a4a0c" /><Relationship Type="http://schemas.openxmlformats.org/officeDocument/2006/relationships/slide" Target="/ppt/slides/slide9.xml" Id="R043b3b87d7004104" /><Relationship Type="http://schemas.openxmlformats.org/officeDocument/2006/relationships/slide" Target="/ppt/slides/slide10.xml" Id="R42b098c3baeb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62ab051b4b47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0d1a0211a4db8" /><Relationship Type="http://schemas.openxmlformats.org/officeDocument/2006/relationships/notesMaster" Target="/ppt/notesMasters/notesMaster1.xml" Id="Rc9f25bf9ee37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ad57dd333e4f5c" /><Relationship Type="http://schemas.openxmlformats.org/officeDocument/2006/relationships/notesMaster" Target="/ppt/notesMasters/notesMaster1.xml" Id="R808fa51c525d42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52046f40f4581" /><Relationship Type="http://schemas.openxmlformats.org/officeDocument/2006/relationships/notesMaster" Target="/ppt/notesMasters/notesMaster1.xml" Id="R3c0c820cd9964c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b81b217ef54efb" /><Relationship Type="http://schemas.openxmlformats.org/officeDocument/2006/relationships/notesMaster" Target="/ppt/notesMasters/notesMaster1.xml" Id="R83e96149460d47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4edd653eb4414" /><Relationship Type="http://schemas.openxmlformats.org/officeDocument/2006/relationships/notesMaster" Target="/ppt/notesMasters/notesMaster1.xml" Id="Ra3876322e0bb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5b77d994114689" /><Relationship Type="http://schemas.openxmlformats.org/officeDocument/2006/relationships/notesMaster" Target="/ppt/notesMasters/notesMaster1.xml" Id="R0fbe9c140daf4d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624c29acc4d0a" /><Relationship Type="http://schemas.openxmlformats.org/officeDocument/2006/relationships/notesMaster" Target="/ppt/notesMasters/notesMaster1.xml" Id="Rc265caa4cc9e4a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59bbab38ec4f0b" /><Relationship Type="http://schemas.openxmlformats.org/officeDocument/2006/relationships/notesMaster" Target="/ppt/notesMasters/notesMaster1.xml" Id="Rc06295a16080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bb20b333834d78" /><Relationship Type="http://schemas.openxmlformats.org/officeDocument/2006/relationships/notesMaster" Target="/ppt/notesMasters/notesMaster1.xml" Id="R968bb6c590ab4d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95ff805aac4d4e" /><Relationship Type="http://schemas.openxmlformats.org/officeDocument/2006/relationships/notesMaster" Target="/ppt/notesMasters/notesMaster1.xml" Id="R9f5235694d4a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7b5e806bd453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620e6563d748f9" /><Relationship Type="http://schemas.openxmlformats.org/officeDocument/2006/relationships/slideLayout" Target="/ppt/slideLayouts/slideLayout2.xml" Id="Rf52cf965c4364e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cf965c4364e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83752a98034f86" /><Relationship Type="http://schemas.openxmlformats.org/officeDocument/2006/relationships/notesSlide" Target="/ppt/notesSlides/notesSlide1.xml" Id="R6a9be951d2e5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3e6569fe740e3" /><Relationship Type="http://schemas.openxmlformats.org/officeDocument/2006/relationships/notesSlide" Target="/ppt/notesSlides/notesSlide2.xml" Id="R8825131edd6f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b4e9c695d4b3c" /><Relationship Type="http://schemas.openxmlformats.org/officeDocument/2006/relationships/notesSlide" Target="/ppt/notesSlides/notesSlide3.xml" Id="R1a83410cafc6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3b251be094fa7" /><Relationship Type="http://schemas.openxmlformats.org/officeDocument/2006/relationships/notesSlide" Target="/ppt/notesSlides/notesSlide4.xml" Id="R70537c48cd0543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97a7fd23a4112" /><Relationship Type="http://schemas.openxmlformats.org/officeDocument/2006/relationships/notesSlide" Target="/ppt/notesSlides/notesSlide5.xml" Id="Rcf51795942e3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d1807b0e914b42" /><Relationship Type="http://schemas.openxmlformats.org/officeDocument/2006/relationships/notesSlide" Target="/ppt/notesSlides/notesSlide6.xml" Id="R3c8427871d124d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73b62f112e4c80" /><Relationship Type="http://schemas.openxmlformats.org/officeDocument/2006/relationships/notesSlide" Target="/ppt/notesSlides/notesSlide7.xml" Id="R8a0aa5775f3545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cccc5cfaec46a1" /><Relationship Type="http://schemas.openxmlformats.org/officeDocument/2006/relationships/notesSlide" Target="/ppt/notesSlides/notesSlide8.xml" Id="Rac1e3a0c5f5647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6f403e0bdb444e" /><Relationship Type="http://schemas.openxmlformats.org/officeDocument/2006/relationships/notesSlide" Target="/ppt/notesSlides/notesSlide9.xml" Id="R5874281a252e4a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41646845848d4" /><Relationship Type="http://schemas.openxmlformats.org/officeDocument/2006/relationships/notesSlide" Target="/ppt/notesSlides/notesSlide10.xml" Id="Rca3d0fdb978049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F82FA-D48F-40B7-A967-1512393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REAL BUSINESS AI WORKFLOW">
            <a:extLst xmlns:a="http://schemas.openxmlformats.org/drawingml/2006/main">
              <a:ext uri="{FF2B5EF4-FFF2-40B4-BE49-F238E27FC236}">
                <a16:creationId xmlns:a16="http://schemas.microsoft.com/office/drawing/2014/main" id="{33B98309-9000-4EEE-B51C-1FC74A2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REAL BUSINESS AI WORKFLOW</a:t>
            </a:r>
          </a:p>
        </p:txBody>
      </p:sp>
      <p:sp>
        <p:nvSpPr>
          <p:cNvPr id="3" name="QADR Fits">
            <a:extLst xmlns:a="http://schemas.openxmlformats.org/drawingml/2006/main">
              <a:ext uri="{FF2B5EF4-FFF2-40B4-BE49-F238E27FC236}">
                <a16:creationId xmlns:a16="http://schemas.microsoft.com/office/drawing/2014/main" id="{CBD9FDB1-056A-43C0-A6F3-AF34C9D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7810500" cy="1123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69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QADR Fits</a:t>
            </a:r>
          </a:p>
        </p:txBody>
      </p:sp>
      <p:sp>
        <p:nvSpPr>
          <p:cNvPr id="4" name="AI Creative Intelligence Workflow fo">
            <a:extLst xmlns:a="http://schemas.openxmlformats.org/drawingml/2006/main">
              <a:ext uri="{FF2B5EF4-FFF2-40B4-BE49-F238E27FC236}">
                <a16:creationId xmlns:a16="http://schemas.microsoft.com/office/drawing/2014/main" id="{2C708AA3-68AA-4A05-8817-48703E7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AI Creative Intelligence Workflow for a one-product hoodie store</a:t>
            </a:r>
          </a:p>
        </p:txBody>
      </p:sp>
      <p:sp>
        <p:nvSpPr>
          <p:cNvPr id="5" name="8">
            <a:extLst xmlns:a="http://schemas.openxmlformats.org/drawingml/2006/main">
              <a:ext uri="{FF2B5EF4-FFF2-40B4-BE49-F238E27FC236}">
                <a16:creationId xmlns:a16="http://schemas.microsoft.com/office/drawing/2014/main" id="{E4EAA89A-E5BC-4926-9B40-C75BF0D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714500"/>
            <a:ext cx="2667000" cy="1714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20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20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add-to-carts from a verified Meta te">
            <a:extLst xmlns:a="http://schemas.openxmlformats.org/drawingml/2006/main">
              <a:ext uri="{FF2B5EF4-FFF2-40B4-BE49-F238E27FC236}">
                <a16:creationId xmlns:a16="http://schemas.microsoft.com/office/drawing/2014/main" id="{F750912D-FA94-445A-8D1A-7BD9CD16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49530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add-to-carts from a verified Meta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628D0-A403-4EE1-908A-074544D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57700"/>
            <a:ext cx="53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>
            <a:solidFill>
              <a:srgbClr val="FFB84D"/>
            </a:solidFill>
          </a:ln>
        </p:spPr>
      </p:sp>
      <p:sp>
        <p:nvSpPr>
          <p:cNvPr id="8" name="₹270.06 spent · 99 link clicks · 3 i">
            <a:extLst xmlns:a="http://schemas.openxmlformats.org/drawingml/2006/main">
              <a:ext uri="{FF2B5EF4-FFF2-40B4-BE49-F238E27FC236}">
                <a16:creationId xmlns:a16="http://schemas.microsoft.com/office/drawing/2014/main" id="{27A94609-A8A4-43A3-B4C6-197078C2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239000"/>
            <a:ext cx="13049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₹270.06 spent · 99 link clicks · 3 initiated checkouts · 1 add-payment-info event</a:t>
            </a:r>
          </a:p>
        </p:txBody>
      </p:sp>
      <p:sp>
        <p:nvSpPr>
          <p:cNvPr id="9" name="No purchase or ROAS is claimed becau">
            <a:extLst xmlns:a="http://schemas.openxmlformats.org/drawingml/2006/main">
              <a:ext uri="{FF2B5EF4-FFF2-40B4-BE49-F238E27FC236}">
                <a16:creationId xmlns:a16="http://schemas.microsoft.com/office/drawing/2014/main" id="{AE907910-083D-4A23-AB7B-B0491D7B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7858125"/>
            <a:ext cx="96202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No purchase or ROAS is claimed because Meta returned no purchase event.</a:t>
            </a:r>
          </a:p>
        </p:txBody>
      </p:sp>
      <p:sp>
        <p:nvSpPr>
          <p:cNvPr id="10" name="Verified via Meta Ads MCP on May 9, ">
            <a:extLst xmlns:a="http://schemas.openxmlformats.org/drawingml/2006/main">
              <a:ext uri="{FF2B5EF4-FFF2-40B4-BE49-F238E27FC236}">
                <a16:creationId xmlns:a16="http://schemas.microsoft.com/office/drawing/2014/main" id="{EAE69251-336D-4537-87B0-AEB1560B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Verified via Meta Ads MCP on May 9, 2026 · Account: QADR2</a:t>
            </a:r>
          </a:p>
        </p:txBody>
      </p:sp>
    </p:spTree>
    <p:extLst>
      <p:ext uri="{BB962C8B-B14F-4D97-AF65-F5344CB8AC3E}">
        <p14:creationId xmlns:p14="http://schemas.microsoft.com/office/powerpoint/2010/main" val="2626682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B97A3-6977-481A-BD72-33C925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business was small enough to be ">
            <a:extLst xmlns:a="http://schemas.openxmlformats.org/drawingml/2006/main">
              <a:ext uri="{FF2B5EF4-FFF2-40B4-BE49-F238E27FC236}">
                <a16:creationId xmlns:a16="http://schemas.microsoft.com/office/drawing/2014/main" id="{7E68B800-B738-489B-90D9-516B41B3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business was small enough to be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FE39D-47D8-419D-BD51-ED73ACAC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QADR Fits is a single-product hoodie">
            <a:extLst xmlns:a="http://schemas.openxmlformats.org/drawingml/2006/main">
              <a:ext uri="{FF2B5EF4-FFF2-40B4-BE49-F238E27FC236}">
                <a16:creationId xmlns:a16="http://schemas.microsoft.com/office/drawing/2014/main" id="{6DAD5181-8F63-4D8B-9278-825EF821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1906250" cy="933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QADR Fits is a single-product hoodie store selling in India. The launch was constrained by inventory, deadline, and budget.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128AA314-DE30-4B5E-8365-D6C00DD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4290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hoodies left">
            <a:extLst xmlns:a="http://schemas.openxmlformats.org/drawingml/2006/main">
              <a:ext uri="{FF2B5EF4-FFF2-40B4-BE49-F238E27FC236}">
                <a16:creationId xmlns:a16="http://schemas.microsoft.com/office/drawing/2014/main" id="{96DC727C-9731-49F2-805E-2D6287B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342900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hoodies left</a:t>
            </a:r>
          </a:p>
        </p:txBody>
      </p:sp>
      <p:sp>
        <p:nvSpPr>
          <p:cNvPr id="7" name="₹1,300">
            <a:extLst xmlns:a="http://schemas.openxmlformats.org/drawingml/2006/main">
              <a:ext uri="{FF2B5EF4-FFF2-40B4-BE49-F238E27FC236}">
                <a16:creationId xmlns:a16="http://schemas.microsoft.com/office/drawing/2014/main" id="{7D4CAEE7-BCFB-4372-A651-5385716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43815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₹1,300</a:t>
            </a:r>
          </a:p>
        </p:txBody>
      </p:sp>
      <p:sp>
        <p:nvSpPr>
          <p:cNvPr id="8" name="planned total budget">
            <a:extLst xmlns:a="http://schemas.openxmlformats.org/drawingml/2006/main">
              <a:ext uri="{FF2B5EF4-FFF2-40B4-BE49-F238E27FC236}">
                <a16:creationId xmlns:a16="http://schemas.microsoft.com/office/drawing/2014/main" id="{5DEC6C03-C227-4F40-9C4A-3CF7142E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438150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planned total budget</a:t>
            </a:r>
          </a:p>
        </p:txBody>
      </p:sp>
      <p:sp>
        <p:nvSpPr>
          <p:cNvPr id="9" name="May 6">
            <a:extLst xmlns:a="http://schemas.openxmlformats.org/drawingml/2006/main">
              <a:ext uri="{FF2B5EF4-FFF2-40B4-BE49-F238E27FC236}">
                <a16:creationId xmlns:a16="http://schemas.microsoft.com/office/drawing/2014/main" id="{B1CF5B13-E661-4292-84C2-DEEB44CA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0"/>
            <a:ext cx="447675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6EA8FE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6EA8FE"/>
                </a:solidFill>
                <a:latin typeface="Aptos"/>
                <a:ea typeface="Aptos"/>
                <a:cs typeface="Aptos"/>
              </a:rPr>
              <a:t>May 6</a:t>
            </a:r>
          </a:p>
        </p:txBody>
      </p:sp>
      <p:sp>
        <p:nvSpPr>
          <p:cNvPr id="10" name="stop-before constraint">
            <a:extLst xmlns:a="http://schemas.openxmlformats.org/drawingml/2006/main">
              <a:ext uri="{FF2B5EF4-FFF2-40B4-BE49-F238E27FC236}">
                <a16:creationId xmlns:a16="http://schemas.microsoft.com/office/drawing/2014/main" id="{44A3FA4C-62FD-4D03-B921-2F41B36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38700"/>
            <a:ext cx="447675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stop-before constraint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75CEA-C2C2-454B-9A13-53584BF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15125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2" name="This made the strategy sharper: no c">
            <a:extLst xmlns:a="http://schemas.openxmlformats.org/drawingml/2006/main">
              <a:ext uri="{FF2B5EF4-FFF2-40B4-BE49-F238E27FC236}">
                <a16:creationId xmlns:a16="http://schemas.microsoft.com/office/drawing/2014/main" id="{81A6C98E-F811-44B8-B712-7220AC3F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943725"/>
            <a:ext cx="1356360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This made the strategy sharper: no complex testing matrix, no heavy discounting, and no broad claim about scale. The job was to generate purchase intent without wasting a tiny budget.</a:t>
            </a:r>
          </a:p>
        </p:txBody>
      </p:sp>
      <p:sp>
        <p:nvSpPr>
          <p:cNvPr id="13" name="Source: owner launch conversation an">
            <a:extLst xmlns:a="http://schemas.openxmlformats.org/drawingml/2006/main">
              <a:ext uri="{FF2B5EF4-FFF2-40B4-BE49-F238E27FC236}">
                <a16:creationId xmlns:a16="http://schemas.microsoft.com/office/drawing/2014/main" id="{4611D378-1622-4C91-8127-D9EDD1D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Source: owner launch conversation and QADR Fits campaign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65133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88901-3679-4FC0-A8B4-ED6E0F1C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workflow turns context into an a">
            <a:extLst xmlns:a="http://schemas.openxmlformats.org/drawingml/2006/main">
              <a:ext uri="{FF2B5EF4-FFF2-40B4-BE49-F238E27FC236}">
                <a16:creationId xmlns:a16="http://schemas.microsoft.com/office/drawing/2014/main" id="{12C01670-CE1B-421E-85FF-40615D1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workflow turns context into an approved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07EE7-C12D-43F3-A4DE-58CB3BD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A086E774-A28B-4F6E-A861-91E1A42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7810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F064C-A126-45F3-BBEA-DFEF595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05125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6" name="Brand intake">
            <a:extLst xmlns:a="http://schemas.openxmlformats.org/drawingml/2006/main">
              <a:ext uri="{FF2B5EF4-FFF2-40B4-BE49-F238E27FC236}">
                <a16:creationId xmlns:a16="http://schemas.microsoft.com/office/drawing/2014/main" id="{7713A4E5-EF76-4B44-B172-586A37B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Brand intake</a:t>
            </a:r>
          </a:p>
        </p:txBody>
      </p:sp>
      <p:sp>
        <p:nvSpPr>
          <p:cNvPr id="7" name="Store, product, stock, budget, regio">
            <a:extLst xmlns:a="http://schemas.openxmlformats.org/drawingml/2006/main">
              <a:ext uri="{FF2B5EF4-FFF2-40B4-BE49-F238E27FC236}">
                <a16:creationId xmlns:a16="http://schemas.microsoft.com/office/drawing/2014/main" id="{9DC2C25F-9CF3-4CE6-9DA0-9E28697A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5717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Store, product, stock, budget, region, assets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C48E6F93-4C26-42B7-A321-C9EA56D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7810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01C86-9347-4E72-92A7-F21871E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05125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0" name="Offer choice">
            <a:extLst xmlns:a="http://schemas.openxmlformats.org/drawingml/2006/main">
              <a:ext uri="{FF2B5EF4-FFF2-40B4-BE49-F238E27FC236}">
                <a16:creationId xmlns:a16="http://schemas.microsoft.com/office/drawing/2014/main" id="{CCA79665-0CBD-46AB-A839-C6F889D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67125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Offer choice</a:t>
            </a:r>
          </a:p>
        </p:txBody>
      </p:sp>
      <p:sp>
        <p:nvSpPr>
          <p:cNvPr id="11" name="Free shipping + real scarcity; avoid">
            <a:extLst xmlns:a="http://schemas.openxmlformats.org/drawingml/2006/main">
              <a:ext uri="{FF2B5EF4-FFF2-40B4-BE49-F238E27FC236}">
                <a16:creationId xmlns:a16="http://schemas.microsoft.com/office/drawing/2014/main" id="{0AB80B77-E579-4211-80A5-398EDBAC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25717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Free shipping + real scarcity; avoid heavy discounts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2E6C79B8-3719-4173-8E31-B7DB116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24125"/>
            <a:ext cx="7810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3204E-A050-4F97-BB02-3065C86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5125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4" name="Creative plan">
            <a:extLst xmlns:a="http://schemas.openxmlformats.org/drawingml/2006/main">
              <a:ext uri="{FF2B5EF4-FFF2-40B4-BE49-F238E27FC236}">
                <a16:creationId xmlns:a16="http://schemas.microsoft.com/office/drawing/2014/main" id="{4017B09F-9E6D-4CCF-9626-9880B95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67125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Creative plan</a:t>
            </a:r>
          </a:p>
        </p:txBody>
      </p:sp>
      <p:sp>
        <p:nvSpPr>
          <p:cNvPr id="15" name="Three stock-scarcity variants, not a">
            <a:extLst xmlns:a="http://schemas.openxmlformats.org/drawingml/2006/main">
              <a:ext uri="{FF2B5EF4-FFF2-40B4-BE49-F238E27FC236}">
                <a16:creationId xmlns:a16="http://schemas.microsoft.com/office/drawing/2014/main" id="{A557F9A0-11F7-4C4C-BE28-FB98E20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25717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Three stock-scarcity variants, not a bloated test</a:t>
            </a:r>
          </a:p>
        </p:txBody>
      </p:sp>
      <p:sp>
        <p:nvSpPr>
          <p:cNvPr id="16" name="4">
            <a:extLst xmlns:a="http://schemas.openxmlformats.org/drawingml/2006/main">
              <a:ext uri="{FF2B5EF4-FFF2-40B4-BE49-F238E27FC236}">
                <a16:creationId xmlns:a16="http://schemas.microsoft.com/office/drawing/2014/main" id="{4097A802-906E-4A20-A4AC-D0DD48F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524125"/>
            <a:ext cx="7810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71716-CED2-4621-9DE1-E9B5EC7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905125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8" name="Meta launch">
            <a:extLst xmlns:a="http://schemas.openxmlformats.org/drawingml/2006/main">
              <a:ext uri="{FF2B5EF4-FFF2-40B4-BE49-F238E27FC236}">
                <a16:creationId xmlns:a16="http://schemas.microsoft.com/office/drawing/2014/main" id="{AD767B68-094B-4F55-AC40-D248434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67125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Meta launch</a:t>
            </a:r>
          </a:p>
        </p:txBody>
      </p:sp>
      <p:sp>
        <p:nvSpPr>
          <p:cNvPr id="19" name="Sales objective, India, Advantage+ p">
            <a:extLst xmlns:a="http://schemas.openxmlformats.org/drawingml/2006/main">
              <a:ext uri="{FF2B5EF4-FFF2-40B4-BE49-F238E27FC236}">
                <a16:creationId xmlns:a16="http://schemas.microsoft.com/office/drawing/2014/main" id="{00AA7070-9AE3-4F6E-9662-5317385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0"/>
            <a:ext cx="25717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Sales objective, India, Advantage+ placements</a:t>
            </a:r>
          </a:p>
        </p:txBody>
      </p:sp>
      <p:sp>
        <p:nvSpPr>
          <p:cNvPr id="20" name="5">
            <a:extLst xmlns:a="http://schemas.openxmlformats.org/drawingml/2006/main">
              <a:ext uri="{FF2B5EF4-FFF2-40B4-BE49-F238E27FC236}">
                <a16:creationId xmlns:a16="http://schemas.microsoft.com/office/drawing/2014/main" id="{214B9B96-0C53-49D8-A191-5CE0C74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524125"/>
            <a:ext cx="781050" cy="781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07437-8445-4343-BE52-2006C52F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2905125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>
            <a:solidFill>
              <a:srgbClr val="FFB84D"/>
            </a:solidFill>
          </a:ln>
        </p:spPr>
      </p:sp>
      <p:sp>
        <p:nvSpPr>
          <p:cNvPr id="22" name="Review">
            <a:extLst xmlns:a="http://schemas.openxmlformats.org/drawingml/2006/main">
              <a:ext uri="{FF2B5EF4-FFF2-40B4-BE49-F238E27FC236}">
                <a16:creationId xmlns:a16="http://schemas.microsoft.com/office/drawing/2014/main" id="{1324F2BF-70A8-491F-90B7-D800B76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667125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Read-only metrics, winner diagnosis,">
            <a:extLst xmlns:a="http://schemas.openxmlformats.org/drawingml/2006/main">
              <a:ext uri="{FF2B5EF4-FFF2-40B4-BE49-F238E27FC236}">
                <a16:creationId xmlns:a16="http://schemas.microsoft.com/office/drawing/2014/main" id="{3113D3D7-D3A6-4C0C-BF75-2E48E92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191000"/>
            <a:ext cx="25717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Read-only metrics, winner diagnosis, no fake ROAS</a:t>
            </a:r>
          </a:p>
        </p:txBody>
      </p:sp>
      <p:sp>
        <p:nvSpPr>
          <p:cNvPr id="24" name="The workflow did not just generate a">
            <a:extLst xmlns:a="http://schemas.openxmlformats.org/drawingml/2006/main">
              <a:ext uri="{FF2B5EF4-FFF2-40B4-BE49-F238E27FC236}">
                <a16:creationId xmlns:a16="http://schemas.microsoft.com/office/drawing/2014/main" id="{4B171B13-CC67-4D3D-8549-C366912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048500"/>
            <a:ext cx="13620750" cy="8382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workflow did not just generate ads. It narrowed the operating decision: what to sell, what not to promise, how much to risk, and what evidence would count.</a:t>
            </a:r>
          </a:p>
        </p:txBody>
      </p:sp>
      <p:sp>
        <p:nvSpPr>
          <p:cNvPr id="25" name="Harness files: BRAND_INTAKE_QUESTION">
            <a:extLst xmlns:a="http://schemas.openxmlformats.org/drawingml/2006/main">
              <a:ext uri="{FF2B5EF4-FFF2-40B4-BE49-F238E27FC236}">
                <a16:creationId xmlns:a16="http://schemas.microsoft.com/office/drawing/2014/main" id="{8F82589B-D37F-4293-A568-1E71CDBB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Harness files: BRAND_INTAKE_QUESTIONNAIRE.md, STRATEGY_OUTPUT_TEMPLATE.md, HUMAN_APPROVAL_POLICY.md</a:t>
            </a:r>
          </a:p>
        </p:txBody>
      </p:sp>
    </p:spTree>
    <p:extLst>
      <p:ext uri="{BB962C8B-B14F-4D97-AF65-F5344CB8AC3E}">
        <p14:creationId xmlns:p14="http://schemas.microsoft.com/office/powerpoint/2010/main" val="11420968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D377E2-8921-4708-A349-F016707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Five layers, not a 30-second prompt">
            <a:extLst xmlns:a="http://schemas.openxmlformats.org/drawingml/2006/main">
              <a:ext uri="{FF2B5EF4-FFF2-40B4-BE49-F238E27FC236}">
                <a16:creationId xmlns:a16="http://schemas.microsoft.com/office/drawing/2014/main" id="{C3021BEA-B5A9-4213-9BFD-593F1C9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Five layers, not a 30-second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1953B-5E1C-4E9C-9734-53B7547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LLM">
            <a:extLst xmlns:a="http://schemas.openxmlformats.org/drawingml/2006/main">
              <a:ext uri="{FF2B5EF4-FFF2-40B4-BE49-F238E27FC236}">
                <a16:creationId xmlns:a16="http://schemas.microsoft.com/office/drawing/2014/main" id="{A62E93FD-2552-47E1-B563-92AFEAB5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238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5" name="Reasoning engine">
            <a:extLst xmlns:a="http://schemas.openxmlformats.org/drawingml/2006/main">
              <a:ext uri="{FF2B5EF4-FFF2-40B4-BE49-F238E27FC236}">
                <a16:creationId xmlns:a16="http://schemas.microsoft.com/office/drawing/2014/main" id="{7F4101EB-0FE9-4DC2-962E-407C4ACE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3143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Reasoning engine</a:t>
            </a:r>
          </a:p>
        </p:txBody>
      </p:sp>
      <p:sp>
        <p:nvSpPr>
          <p:cNvPr id="6" name="Synthesizes store context, constrain">
            <a:extLst xmlns:a="http://schemas.openxmlformats.org/drawingml/2006/main">
              <a:ext uri="{FF2B5EF4-FFF2-40B4-BE49-F238E27FC236}">
                <a16:creationId xmlns:a16="http://schemas.microsoft.com/office/drawing/2014/main" id="{50B5FE8F-033E-4CF8-9810-274D4EF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Synthesizes store context, constraints, campaign structure, and copy.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2F539-EF2E-42FC-BE4D-4AEEC64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8" name="MCP">
            <a:extLst xmlns:a="http://schemas.openxmlformats.org/drawingml/2006/main">
              <a:ext uri="{FF2B5EF4-FFF2-40B4-BE49-F238E27FC236}">
                <a16:creationId xmlns:a16="http://schemas.microsoft.com/office/drawing/2014/main" id="{3B50BCD3-0011-4141-A3EB-14DA401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1238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9" name="Hands">
            <a:extLst xmlns:a="http://schemas.openxmlformats.org/drawingml/2006/main">
              <a:ext uri="{FF2B5EF4-FFF2-40B4-BE49-F238E27FC236}">
                <a16:creationId xmlns:a16="http://schemas.microsoft.com/office/drawing/2014/main" id="{27732544-AD2F-41E1-9A23-CAE3FEC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3143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Hands</a:t>
            </a:r>
          </a:p>
        </p:txBody>
      </p:sp>
      <p:sp>
        <p:nvSpPr>
          <p:cNvPr id="10" name="Read-only Meta Ads connector pulls a">
            <a:extLst xmlns:a="http://schemas.openxmlformats.org/drawingml/2006/main">
              <a:ext uri="{FF2B5EF4-FFF2-40B4-BE49-F238E27FC236}">
                <a16:creationId xmlns:a16="http://schemas.microsoft.com/office/drawing/2014/main" id="{83EAC1C4-4413-4CE0-9E2E-0F9F700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Read-only Meta Ads connector pulls account, campaign, ad set, ad, daily, and pacing metrics.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92318-8D47-4156-ADCF-B31CD07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2" name="Skills">
            <a:extLst xmlns:a="http://schemas.openxmlformats.org/drawingml/2006/main">
              <a:ext uri="{FF2B5EF4-FFF2-40B4-BE49-F238E27FC236}">
                <a16:creationId xmlns:a16="http://schemas.microsoft.com/office/drawing/2014/main" id="{894F3216-B37A-4E42-BAC3-9F98598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1238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13" name="Judgment">
            <a:extLst xmlns:a="http://schemas.openxmlformats.org/drawingml/2006/main">
              <a:ext uri="{FF2B5EF4-FFF2-40B4-BE49-F238E27FC236}">
                <a16:creationId xmlns:a16="http://schemas.microsoft.com/office/drawing/2014/main" id="{98EB4353-413D-483A-98F1-05DC24B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00550"/>
            <a:ext cx="3143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Judgment</a:t>
            </a:r>
          </a:p>
        </p:txBody>
      </p:sp>
      <p:sp>
        <p:nvSpPr>
          <p:cNvPr id="14" name="Competitor, Shopify, offer, Meta Ads">
            <a:extLst xmlns:a="http://schemas.openxmlformats.org/drawingml/2006/main">
              <a:ext uri="{FF2B5EF4-FFF2-40B4-BE49-F238E27FC236}">
                <a16:creationId xmlns:a16="http://schemas.microsoft.com/office/drawing/2014/main" id="{8194CD93-E4B6-4DEF-AB24-401EA6E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Competitor, Shopify, offer, Meta Ads, CRO, analytics, and local ad-creative skill.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296F6-42B2-4E74-80B0-D386EFE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6" name="Evals">
            <a:extLst xmlns:a="http://schemas.openxmlformats.org/drawingml/2006/main">
              <a:ext uri="{FF2B5EF4-FFF2-40B4-BE49-F238E27FC236}">
                <a16:creationId xmlns:a16="http://schemas.microsoft.com/office/drawing/2014/main" id="{25FF2A1A-6A5F-4FDF-857D-2AC80C6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1238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Evals</a:t>
            </a:r>
          </a:p>
        </p:txBody>
      </p:sp>
      <p:sp>
        <p:nvSpPr>
          <p:cNvPr id="17" name="Taste check">
            <a:extLst xmlns:a="http://schemas.openxmlformats.org/drawingml/2006/main">
              <a:ext uri="{FF2B5EF4-FFF2-40B4-BE49-F238E27FC236}">
                <a16:creationId xmlns:a16="http://schemas.microsoft.com/office/drawing/2014/main" id="{93C6877E-D0C9-4226-A2CF-3296987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05450"/>
            <a:ext cx="3143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Taste check</a:t>
            </a:r>
          </a:p>
        </p:txBody>
      </p:sp>
      <p:sp>
        <p:nvSpPr>
          <p:cNvPr id="18" name="Judge loop scores avatar specificity">
            <a:extLst xmlns:a="http://schemas.openxmlformats.org/drawingml/2006/main">
              <a:ext uri="{FF2B5EF4-FFF2-40B4-BE49-F238E27FC236}">
                <a16:creationId xmlns:a16="http://schemas.microsoft.com/office/drawing/2014/main" id="{28CB9795-E105-41FC-A1A0-0BAB5B9D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Judge loop scores avatar specificity, hook, offer clarity, proof, Meta fit, and guardrails.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40BB6-E68E-47AB-B4B8-A823F14F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579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20" name="Guardrails">
            <a:extLst xmlns:a="http://schemas.openxmlformats.org/drawingml/2006/main">
              <a:ext uri="{FF2B5EF4-FFF2-40B4-BE49-F238E27FC236}">
                <a16:creationId xmlns:a16="http://schemas.microsoft.com/office/drawing/2014/main" id="{6BD377AC-AA10-48D5-9C62-E23978C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10350"/>
            <a:ext cx="1238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21" name="Safety line">
            <a:extLst xmlns:a="http://schemas.openxmlformats.org/drawingml/2006/main">
              <a:ext uri="{FF2B5EF4-FFF2-40B4-BE49-F238E27FC236}">
                <a16:creationId xmlns:a16="http://schemas.microsoft.com/office/drawing/2014/main" id="{CB2DA60A-5522-4751-B57D-198B9CA8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10350"/>
            <a:ext cx="3143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Safety line</a:t>
            </a:r>
          </a:p>
        </p:txBody>
      </p:sp>
      <p:sp>
        <p:nvSpPr>
          <p:cNvPr id="22" name="No autonomous spend; publishing, pau">
            <a:extLst xmlns:a="http://schemas.openxmlformats.org/drawingml/2006/main">
              <a:ext uri="{FF2B5EF4-FFF2-40B4-BE49-F238E27FC236}">
                <a16:creationId xmlns:a16="http://schemas.microsoft.com/office/drawing/2014/main" id="{D68C6FA2-862B-4A09-8C46-8C0AB918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10350"/>
            <a:ext cx="9334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No autonomous spend; publishing, pausing, targeting, and budgets need owner approval.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89235-75E4-469E-A0C5-D56C5815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1628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24" name="Code: meta-ads-mcp/src/server.js, sr">
            <a:extLst xmlns:a="http://schemas.openxmlformats.org/drawingml/2006/main">
              <a:ext uri="{FF2B5EF4-FFF2-40B4-BE49-F238E27FC236}">
                <a16:creationId xmlns:a16="http://schemas.microsoft.com/office/drawing/2014/main" id="{D8D61966-A151-4BB3-AD07-8434E5B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Code: meta-ads-mcp/src/server.js, src/metaClient.js, src/intelligence.js · Tests: 248 passing</a:t>
            </a:r>
          </a:p>
        </p:txBody>
      </p:sp>
    </p:spTree>
    <p:extLst>
      <p:ext uri="{BB962C8B-B14F-4D97-AF65-F5344CB8AC3E}">
        <p14:creationId xmlns:p14="http://schemas.microsoft.com/office/powerpoint/2010/main" val="3348686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6FCC0-57B7-42AB-854A-36FE181E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launch recommendation matched th">
            <a:extLst xmlns:a="http://schemas.openxmlformats.org/drawingml/2006/main">
              <a:ext uri="{FF2B5EF4-FFF2-40B4-BE49-F238E27FC236}">
                <a16:creationId xmlns:a16="http://schemas.microsoft.com/office/drawing/2014/main" id="{5BD3CC6C-4EB9-4CA5-9B7E-FCD660AD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launch recommendation matched the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747B-2823-4914-9D73-A68BA1FA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Sales objective. India. One clean ca">
            <a:extLst xmlns:a="http://schemas.openxmlformats.org/drawingml/2006/main">
              <a:ext uri="{FF2B5EF4-FFF2-40B4-BE49-F238E27FC236}">
                <a16:creationId xmlns:a16="http://schemas.microsoft.com/office/drawing/2014/main" id="{6D4A2DE5-38EA-4AA0-AC43-357690D2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10287000" cy="11620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9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Sales objective. India. One clean campaign. Three ads. Free shipping plus real scarcity.</a:t>
            </a:r>
          </a:p>
        </p:txBody>
      </p:sp>
      <p:sp>
        <p:nvSpPr>
          <p:cNvPr id="5" name="CAMPAIGN">
            <a:extLst xmlns:a="http://schemas.openxmlformats.org/drawingml/2006/main">
              <a:ext uri="{FF2B5EF4-FFF2-40B4-BE49-F238E27FC236}">
                <a16:creationId xmlns:a16="http://schemas.microsoft.com/office/drawing/2014/main" id="{09A6826C-054A-4EC6-AE4F-94AD420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6" name="META_Sales_India_QADR-Hoodie_Last9St">
            <a:extLst xmlns:a="http://schemas.openxmlformats.org/drawingml/2006/main">
              <a:ext uri="{FF2B5EF4-FFF2-40B4-BE49-F238E27FC236}">
                <a16:creationId xmlns:a16="http://schemas.microsoft.com/office/drawing/2014/main" id="{0FD203D1-FCB3-4522-A49F-ACC908A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105727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META_Sales_India_QADR-Hoodie_Last9Stock_May</a:t>
            </a:r>
          </a:p>
        </p:txBody>
      </p:sp>
      <p:sp>
        <p:nvSpPr>
          <p:cNvPr id="7" name="AD SET">
            <a:extLst xmlns:a="http://schemas.openxmlformats.org/drawingml/2006/main">
              <a:ext uri="{FF2B5EF4-FFF2-40B4-BE49-F238E27FC236}">
                <a16:creationId xmlns:a16="http://schemas.microsoft.com/office/drawing/2014/main" id="{A71A84D7-4DFC-4BFA-BEA7-B921BAC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14925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AD SET</a:t>
            </a:r>
          </a:p>
        </p:txBody>
      </p:sp>
      <p:sp>
        <p:nvSpPr>
          <p:cNvPr id="8" name="India_18-34_Broad_WebsitePurchase_La">
            <a:extLst xmlns:a="http://schemas.openxmlformats.org/drawingml/2006/main">
              <a:ext uri="{FF2B5EF4-FFF2-40B4-BE49-F238E27FC236}">
                <a16:creationId xmlns:a16="http://schemas.microsoft.com/office/drawing/2014/main" id="{043E8FF5-58C2-4299-A605-C9FA0E6C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76825"/>
            <a:ext cx="105727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India_18-34_Broad_WebsitePurchase_Last9</a:t>
            </a:r>
          </a:p>
        </p:txBody>
      </p:sp>
      <p:sp>
        <p:nvSpPr>
          <p:cNvPr id="9" name="OFFER">
            <a:extLst xmlns:a="http://schemas.openxmlformats.org/drawingml/2006/main">
              <a:ext uri="{FF2B5EF4-FFF2-40B4-BE49-F238E27FC236}">
                <a16:creationId xmlns:a16="http://schemas.microsoft.com/office/drawing/2014/main" id="{AA1768C8-44FB-4E8C-B4DD-989541F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53125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10" name="Free Shipping + Limited 9 Pieces Onl">
            <a:extLst xmlns:a="http://schemas.openxmlformats.org/drawingml/2006/main">
              <a:ext uri="{FF2B5EF4-FFF2-40B4-BE49-F238E27FC236}">
                <a16:creationId xmlns:a16="http://schemas.microsoft.com/office/drawing/2014/main" id="{C3212973-9827-4440-96B0-EC64B92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15025"/>
            <a:ext cx="105727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Free Shipping + Limited 9 Pieces Only</a:t>
            </a:r>
          </a:p>
        </p:txBody>
      </p:sp>
      <p:sp>
        <p:nvSpPr>
          <p:cNvPr id="11" name="CREATIVE">
            <a:extLst xmlns:a="http://schemas.openxmlformats.org/drawingml/2006/main">
              <a:ext uri="{FF2B5EF4-FFF2-40B4-BE49-F238E27FC236}">
                <a16:creationId xmlns:a16="http://schemas.microsoft.com/office/drawing/2014/main" id="{33ACCFEE-1B1A-4F3E-BE1F-547C6277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91325"/>
            <a:ext cx="2000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CREATIVE</a:t>
            </a:r>
          </a:p>
        </p:txBody>
      </p:sp>
      <p:sp>
        <p:nvSpPr>
          <p:cNvPr id="12" name="Stock-scarcity variants; front photo">
            <a:extLst xmlns:a="http://schemas.openxmlformats.org/drawingml/2006/main">
              <a:ext uri="{FF2B5EF4-FFF2-40B4-BE49-F238E27FC236}">
                <a16:creationId xmlns:a16="http://schemas.microsoft.com/office/drawing/2014/main" id="{2EEB82C1-D3FD-421F-B9A8-949BB84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753225"/>
            <a:ext cx="105727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Stock-scarcity variants; front photo, fit/model, short 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5745D-C5CF-4AF7-B5DC-B486A11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90750"/>
            <a:ext cx="4476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4" name="The key judgment: with only 9 units,">
            <a:extLst xmlns:a="http://schemas.openxmlformats.org/drawingml/2006/main">
              <a:ext uri="{FF2B5EF4-FFF2-40B4-BE49-F238E27FC236}">
                <a16:creationId xmlns:a16="http://schemas.microsoft.com/office/drawing/2014/main" id="{01FFA319-983A-41F4-A922-95303DBF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19350"/>
            <a:ext cx="3943350" cy="3333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key judgment: with only 9 units, do not over-optimize or discount aggressively. Let the campaign test whether scarcity creates purchase intent.</a:t>
            </a:r>
          </a:p>
        </p:txBody>
      </p:sp>
      <p:sp>
        <p:nvSpPr>
          <p:cNvPr id="15" name="Pre-launch conversation supplied by ">
            <a:extLst xmlns:a="http://schemas.openxmlformats.org/drawingml/2006/main">
              <a:ext uri="{FF2B5EF4-FFF2-40B4-BE49-F238E27FC236}">
                <a16:creationId xmlns:a16="http://schemas.microsoft.com/office/drawing/2014/main" id="{2F421E6A-1FB0-403F-863B-6D05BF9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Pre-launch conversation supplied by owner.</a:t>
            </a:r>
          </a:p>
        </p:txBody>
      </p:sp>
    </p:spTree>
    <p:extLst>
      <p:ext uri="{BB962C8B-B14F-4D97-AF65-F5344CB8AC3E}">
        <p14:creationId xmlns:p14="http://schemas.microsoft.com/office/powerpoint/2010/main" val="2132281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B486D-4AA6-44D4-9D7C-03F6F93E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Verified result: purchase intent, no">
            <a:extLst xmlns:a="http://schemas.openxmlformats.org/drawingml/2006/main">
              <a:ext uri="{FF2B5EF4-FFF2-40B4-BE49-F238E27FC236}">
                <a16:creationId xmlns:a16="http://schemas.microsoft.com/office/drawing/2014/main" id="{4AFD4FED-5005-41EF-9890-A1B410A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Verified result: purchase intent, not claimed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D78F-F55C-4B30-B29F-FFD4AC5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9C632-7527-4AD6-B94D-FA4C20F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1381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5" name="1,297">
            <a:extLst xmlns:a="http://schemas.openxmlformats.org/drawingml/2006/main">
              <a:ext uri="{FF2B5EF4-FFF2-40B4-BE49-F238E27FC236}">
                <a16:creationId xmlns:a16="http://schemas.microsoft.com/office/drawing/2014/main" id="{4934E133-BCF2-4473-8515-5F9D45F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764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1,297</a:t>
            </a:r>
          </a:p>
        </p:txBody>
      </p:sp>
      <p:sp>
        <p:nvSpPr>
          <p:cNvPr id="6" name="impressions">
            <a:extLst xmlns:a="http://schemas.openxmlformats.org/drawingml/2006/main">
              <a:ext uri="{FF2B5EF4-FFF2-40B4-BE49-F238E27FC236}">
                <a16:creationId xmlns:a16="http://schemas.microsoft.com/office/drawing/2014/main" id="{76BFAAA0-16D0-4CF6-A4A7-E90B2ED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impressions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3C274-449B-4D5F-B79D-08CF8C2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33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8" name="99">
            <a:extLst xmlns:a="http://schemas.openxmlformats.org/drawingml/2006/main">
              <a:ext uri="{FF2B5EF4-FFF2-40B4-BE49-F238E27FC236}">
                <a16:creationId xmlns:a16="http://schemas.microsoft.com/office/drawing/2014/main" id="{88B5E965-01DE-4052-959E-7540812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527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99</a:t>
            </a:r>
          </a:p>
        </p:txBody>
      </p:sp>
      <p:sp>
        <p:nvSpPr>
          <p:cNvPr id="9" name="link clicks">
            <a:extLst xmlns:a="http://schemas.openxmlformats.org/drawingml/2006/main">
              <a:ext uri="{FF2B5EF4-FFF2-40B4-BE49-F238E27FC236}">
                <a16:creationId xmlns:a16="http://schemas.microsoft.com/office/drawing/2014/main" id="{6568B4CB-ADCA-4C56-8092-E880AA2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link clicks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4CCC9-E004-481B-A39F-7DCBA154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1" name="53">
            <a:extLst xmlns:a="http://schemas.openxmlformats.org/drawingml/2006/main">
              <a:ext uri="{FF2B5EF4-FFF2-40B4-BE49-F238E27FC236}">
                <a16:creationId xmlns:a16="http://schemas.microsoft.com/office/drawing/2014/main" id="{7A30F735-BB10-469F-A64F-D63ED96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290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12" name="landing page views">
            <a:extLst xmlns:a="http://schemas.openxmlformats.org/drawingml/2006/main">
              <a:ext uri="{FF2B5EF4-FFF2-40B4-BE49-F238E27FC236}">
                <a16:creationId xmlns:a16="http://schemas.microsoft.com/office/drawing/2014/main" id="{186D23F3-C669-4251-A9A7-C23DE33C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landing page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E7C3D-4E48-4CB6-A2E0-9FBAF7C8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5D07F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4" name="8">
            <a:extLst xmlns:a="http://schemas.openxmlformats.org/drawingml/2006/main">
              <a:ext uri="{FF2B5EF4-FFF2-40B4-BE49-F238E27FC236}">
                <a16:creationId xmlns:a16="http://schemas.microsoft.com/office/drawing/2014/main" id="{C7DA22EF-0BA7-4884-8C2C-D90015B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31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131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5" name="add-to-carts">
            <a:extLst xmlns:a="http://schemas.openxmlformats.org/drawingml/2006/main">
              <a:ext uri="{FF2B5EF4-FFF2-40B4-BE49-F238E27FC236}">
                <a16:creationId xmlns:a16="http://schemas.microsoft.com/office/drawing/2014/main" id="{542CE069-E42A-4A27-B661-2F873ADB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0131A"/>
                </a:solidFill>
                <a:latin typeface="Aptos"/>
                <a:ea typeface="Aptos"/>
                <a:cs typeface="Aptos"/>
              </a:rPr>
              <a:t>add-to-carts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44FA3-03BC-4396-9981-23C73FB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7" name="3">
            <a:extLst xmlns:a="http://schemas.openxmlformats.org/drawingml/2006/main">
              <a:ext uri="{FF2B5EF4-FFF2-40B4-BE49-F238E27FC236}">
                <a16:creationId xmlns:a16="http://schemas.microsoft.com/office/drawing/2014/main" id="{5FE328BC-319E-4705-825F-84E4597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816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initiated checkouts">
            <a:extLst xmlns:a="http://schemas.openxmlformats.org/drawingml/2006/main">
              <a:ext uri="{FF2B5EF4-FFF2-40B4-BE49-F238E27FC236}">
                <a16:creationId xmlns:a16="http://schemas.microsoft.com/office/drawing/2014/main" id="{44008FBA-8064-4824-A330-FE8D4470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102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initiated checkouts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94693-EC7E-4398-81A9-6F644D9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722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20" name="1">
            <a:extLst xmlns:a="http://schemas.openxmlformats.org/drawingml/2006/main">
              <a:ext uri="{FF2B5EF4-FFF2-40B4-BE49-F238E27FC236}">
                <a16:creationId xmlns:a16="http://schemas.microsoft.com/office/drawing/2014/main" id="{D3432890-8383-4781-A931-62C3BB3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57975"/>
            <a:ext cx="15240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add payment info">
            <a:extLst xmlns:a="http://schemas.openxmlformats.org/drawingml/2006/main">
              <a:ext uri="{FF2B5EF4-FFF2-40B4-BE49-F238E27FC236}">
                <a16:creationId xmlns:a16="http://schemas.microsoft.com/office/drawing/2014/main" id="{FFC2CF70-6345-4B57-9380-86D768D2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86550"/>
            <a:ext cx="4953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add payment info</a:t>
            </a:r>
          </a:p>
        </p:txBody>
      </p:sp>
      <p:sp>
        <p:nvSpPr>
          <p:cNvPr id="22" name="₹270.06">
            <a:extLst xmlns:a="http://schemas.openxmlformats.org/drawingml/2006/main">
              <a:ext uri="{FF2B5EF4-FFF2-40B4-BE49-F238E27FC236}">
                <a16:creationId xmlns:a16="http://schemas.microsoft.com/office/drawing/2014/main" id="{C855C37B-F504-41EE-8ED1-6C9B28B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90800"/>
            <a:ext cx="371475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₹270.06</a:t>
            </a:r>
          </a:p>
        </p:txBody>
      </p:sp>
      <p:sp>
        <p:nvSpPr>
          <p:cNvPr id="23" name="verified spend">
            <a:extLst xmlns:a="http://schemas.openxmlformats.org/drawingml/2006/main">
              <a:ext uri="{FF2B5EF4-FFF2-40B4-BE49-F238E27FC236}">
                <a16:creationId xmlns:a16="http://schemas.microsoft.com/office/drawing/2014/main" id="{0CA038D8-367C-4E76-80A1-EB7E02D7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29000"/>
            <a:ext cx="371475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verified spend</a:t>
            </a:r>
          </a:p>
        </p:txBody>
      </p:sp>
      <p:sp>
        <p:nvSpPr>
          <p:cNvPr id="24" name="7.17%">
            <a:extLst xmlns:a="http://schemas.openxmlformats.org/drawingml/2006/main">
              <a:ext uri="{FF2B5EF4-FFF2-40B4-BE49-F238E27FC236}">
                <a16:creationId xmlns:a16="http://schemas.microsoft.com/office/drawing/2014/main" id="{E453DE7C-DB7F-4B1B-B049-A274AA1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91050"/>
            <a:ext cx="371475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7.17%</a:t>
            </a:r>
          </a:p>
        </p:txBody>
      </p:sp>
      <p:sp>
        <p:nvSpPr>
          <p:cNvPr id="25" name="CTR">
            <a:extLst xmlns:a="http://schemas.openxmlformats.org/drawingml/2006/main">
              <a:ext uri="{FF2B5EF4-FFF2-40B4-BE49-F238E27FC236}">
                <a16:creationId xmlns:a16="http://schemas.microsoft.com/office/drawing/2014/main" id="{9F46FD12-7F3B-4D4E-9A2D-D63FC03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29250"/>
            <a:ext cx="371475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CTR</a:t>
            </a:r>
          </a:p>
        </p:txBody>
      </p:sp>
      <p:sp>
        <p:nvSpPr>
          <p:cNvPr id="26" name="₹33.76">
            <a:extLst xmlns:a="http://schemas.openxmlformats.org/drawingml/2006/main">
              <a:ext uri="{FF2B5EF4-FFF2-40B4-BE49-F238E27FC236}">
                <a16:creationId xmlns:a16="http://schemas.microsoft.com/office/drawing/2014/main" id="{CB598760-26EE-4BCE-BF1B-292E27D6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91300"/>
            <a:ext cx="409575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6EA8FE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6EA8FE"/>
                </a:solidFill>
                <a:latin typeface="Aptos"/>
                <a:ea typeface="Aptos"/>
                <a:cs typeface="Aptos"/>
              </a:rPr>
              <a:t>₹33.76</a:t>
            </a:r>
          </a:p>
        </p:txBody>
      </p:sp>
      <p:sp>
        <p:nvSpPr>
          <p:cNvPr id="27" name="cost per add-to-cart">
            <a:extLst xmlns:a="http://schemas.openxmlformats.org/drawingml/2006/main">
              <a:ext uri="{FF2B5EF4-FFF2-40B4-BE49-F238E27FC236}">
                <a16:creationId xmlns:a16="http://schemas.microsoft.com/office/drawing/2014/main" id="{B08DFBE4-7C97-4B4E-92E0-9CA4751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429500"/>
            <a:ext cx="4095750" cy="5905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cost per add-to-cart</a:t>
            </a:r>
          </a:p>
        </p:txBody>
      </p:sp>
      <p:sp>
        <p:nvSpPr>
          <p:cNvPr id="28" name="Meta did not return purchase events ">
            <a:extLst xmlns:a="http://schemas.openxmlformats.org/drawingml/2006/main">
              <a:ext uri="{FF2B5EF4-FFF2-40B4-BE49-F238E27FC236}">
                <a16:creationId xmlns:a16="http://schemas.microsoft.com/office/drawing/2014/main" id="{A4FACC61-5ABF-4B35-BC15-AD98C95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Meta did not return purchase events or purchase value, so no sale or ROAS is claimed.</a:t>
            </a:r>
          </a:p>
        </p:txBody>
      </p:sp>
    </p:spTree>
    <p:extLst>
      <p:ext uri="{BB962C8B-B14F-4D97-AF65-F5344CB8AC3E}">
        <p14:creationId xmlns:p14="http://schemas.microsoft.com/office/powerpoint/2010/main" val="1514982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066BE-3A2E-4409-AB49-5AFF1C7A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winning ad was exactly the plann">
            <a:extLst xmlns:a="http://schemas.openxmlformats.org/drawingml/2006/main">
              <a:ext uri="{FF2B5EF4-FFF2-40B4-BE49-F238E27FC236}">
                <a16:creationId xmlns:a16="http://schemas.microsoft.com/office/drawing/2014/main" id="{7560114B-E969-4660-8142-FF26F58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winning ad was exactly the planned 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EE92D-5065-44D0-A69C-A3A76DBA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Stock Scarcity - Copy drove 7 of 8 a">
            <a:extLst xmlns:a="http://schemas.openxmlformats.org/drawingml/2006/main">
              <a:ext uri="{FF2B5EF4-FFF2-40B4-BE49-F238E27FC236}">
                <a16:creationId xmlns:a16="http://schemas.microsoft.com/office/drawing/2014/main" id="{F493D440-C436-41FA-955A-B21CB27A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2668250" cy="9144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Stock Scarcity - Copy drove 7 of 8 add-to-carts, all 3 initiated checkouts, and the only add-payment-info event.</a:t>
            </a:r>
          </a:p>
        </p:txBody>
      </p:sp>
      <p:sp>
        <p:nvSpPr>
          <p:cNvPr id="5" name="Ad">
            <a:extLst xmlns:a="http://schemas.openxmlformats.org/drawingml/2006/main">
              <a:ext uri="{FF2B5EF4-FFF2-40B4-BE49-F238E27FC236}">
                <a16:creationId xmlns:a16="http://schemas.microsoft.com/office/drawing/2014/main" id="{8F65D374-1ABC-45A7-B7FC-4E9A4198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5143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Ad</a:t>
            </a:r>
          </a:p>
        </p:txBody>
      </p:sp>
      <p:sp>
        <p:nvSpPr>
          <p:cNvPr id="6" name="Spend">
            <a:extLst xmlns:a="http://schemas.openxmlformats.org/drawingml/2006/main">
              <a:ext uri="{FF2B5EF4-FFF2-40B4-BE49-F238E27FC236}">
                <a16:creationId xmlns:a16="http://schemas.microsoft.com/office/drawing/2014/main" id="{2775FB39-E3A2-4CC7-ABD0-350CC5D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1714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Spend</a:t>
            </a:r>
          </a:p>
        </p:txBody>
      </p:sp>
      <p:sp>
        <p:nvSpPr>
          <p:cNvPr id="7" name="Link clicks">
            <a:extLst xmlns:a="http://schemas.openxmlformats.org/drawingml/2006/main">
              <a:ext uri="{FF2B5EF4-FFF2-40B4-BE49-F238E27FC236}">
                <a16:creationId xmlns:a16="http://schemas.microsoft.com/office/drawing/2014/main" id="{01121EE4-FB7C-4C9C-9663-E30287EA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Link clicks</a:t>
            </a:r>
          </a:p>
        </p:txBody>
      </p:sp>
      <p:sp>
        <p:nvSpPr>
          <p:cNvPr id="8" name="ATC">
            <a:extLst xmlns:a="http://schemas.openxmlformats.org/drawingml/2006/main">
              <a:ext uri="{FF2B5EF4-FFF2-40B4-BE49-F238E27FC236}">
                <a16:creationId xmlns:a16="http://schemas.microsoft.com/office/drawing/2014/main" id="{75769400-7E5B-4E21-A1A6-A08732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57625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ATC</a:t>
            </a:r>
          </a:p>
        </p:txBody>
      </p:sp>
      <p:sp>
        <p:nvSpPr>
          <p:cNvPr id="9" name="Checkout">
            <a:extLst xmlns:a="http://schemas.openxmlformats.org/drawingml/2006/main">
              <a:ext uri="{FF2B5EF4-FFF2-40B4-BE49-F238E27FC236}">
                <a16:creationId xmlns:a16="http://schemas.microsoft.com/office/drawing/2014/main" id="{A413D1B4-11D2-44B9-B014-EF64DECA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57625"/>
            <a:ext cx="16192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10" name="CTR">
            <a:extLst xmlns:a="http://schemas.openxmlformats.org/drawingml/2006/main">
              <a:ext uri="{FF2B5EF4-FFF2-40B4-BE49-F238E27FC236}">
                <a16:creationId xmlns:a16="http://schemas.microsoft.com/office/drawing/2014/main" id="{20A80DDD-3341-43D4-988A-FE50C16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57625"/>
            <a:ext cx="14287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CTR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E1DA9-EBFC-4D99-B144-67F56A1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1304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442E9-FD67-48CE-8464-E0FB9D7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1343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251D"/>
          </a:solidFill>
          <a:ln xmlns:a="http://schemas.openxmlformats.org/drawingml/2006/main" w="9525">
            <a:solidFill>
              <a:srgbClr val="35D07F"/>
            </a:solidFill>
          </a:ln>
        </p:spPr>
      </p:sp>
      <p:sp>
        <p:nvSpPr>
          <p:cNvPr id="13" name="Stock Scarcity - Copy">
            <a:extLst xmlns:a="http://schemas.openxmlformats.org/drawingml/2006/main">
              <a:ext uri="{FF2B5EF4-FFF2-40B4-BE49-F238E27FC236}">
                <a16:creationId xmlns:a16="http://schemas.microsoft.com/office/drawing/2014/main" id="{ECBCE272-0FB5-4B17-9582-771CC0E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5143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Stock Scarcity - Copy</a:t>
            </a:r>
          </a:p>
        </p:txBody>
      </p:sp>
      <p:sp>
        <p:nvSpPr>
          <p:cNvPr id="14" name="₹152.97">
            <a:extLst xmlns:a="http://schemas.openxmlformats.org/drawingml/2006/main">
              <a:ext uri="{FF2B5EF4-FFF2-40B4-BE49-F238E27FC236}">
                <a16:creationId xmlns:a16="http://schemas.microsoft.com/office/drawing/2014/main" id="{971B063D-5A98-4D29-A21C-82690DB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00575"/>
            <a:ext cx="1714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₹152.97</a:t>
            </a:r>
          </a:p>
        </p:txBody>
      </p:sp>
      <p:sp>
        <p:nvSpPr>
          <p:cNvPr id="15" name="54">
            <a:extLst xmlns:a="http://schemas.openxmlformats.org/drawingml/2006/main">
              <a:ext uri="{FF2B5EF4-FFF2-40B4-BE49-F238E27FC236}">
                <a16:creationId xmlns:a16="http://schemas.microsoft.com/office/drawing/2014/main" id="{A4FEB790-27B6-4307-A808-0FB24E75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00575"/>
            <a:ext cx="2000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16" name="7">
            <a:extLst xmlns:a="http://schemas.openxmlformats.org/drawingml/2006/main">
              <a:ext uri="{FF2B5EF4-FFF2-40B4-BE49-F238E27FC236}">
                <a16:creationId xmlns:a16="http://schemas.microsoft.com/office/drawing/2014/main" id="{6374AA12-D2DE-49B2-8198-4498ADF4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00575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7" name="3">
            <a:extLst xmlns:a="http://schemas.openxmlformats.org/drawingml/2006/main">
              <a:ext uri="{FF2B5EF4-FFF2-40B4-BE49-F238E27FC236}">
                <a16:creationId xmlns:a16="http://schemas.microsoft.com/office/drawing/2014/main" id="{5A7343D3-EBAB-40B4-A05F-5C419CB0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00575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6.17%">
            <a:extLst xmlns:a="http://schemas.openxmlformats.org/drawingml/2006/main">
              <a:ext uri="{FF2B5EF4-FFF2-40B4-BE49-F238E27FC236}">
                <a16:creationId xmlns:a16="http://schemas.microsoft.com/office/drawing/2014/main" id="{8DFA34CE-A5F5-4EFD-99EC-1B003950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600575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6.17%</a:t>
            </a:r>
          </a:p>
        </p:txBody>
      </p:sp>
      <p:sp>
        <p:nvSpPr>
          <p:cNvPr id="19" name="Stock Scarcity - Copy 2">
            <a:extLst xmlns:a="http://schemas.openxmlformats.org/drawingml/2006/main">
              <a:ext uri="{FF2B5EF4-FFF2-40B4-BE49-F238E27FC236}">
                <a16:creationId xmlns:a16="http://schemas.microsoft.com/office/drawing/2014/main" id="{21129C4F-46B9-447A-8BCA-93004004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5143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Stock Scarcity - Copy 2</a:t>
            </a:r>
          </a:p>
        </p:txBody>
      </p:sp>
      <p:sp>
        <p:nvSpPr>
          <p:cNvPr id="20" name="₹104.80">
            <a:extLst xmlns:a="http://schemas.openxmlformats.org/drawingml/2006/main">
              <a:ext uri="{FF2B5EF4-FFF2-40B4-BE49-F238E27FC236}">
                <a16:creationId xmlns:a16="http://schemas.microsoft.com/office/drawing/2014/main" id="{9FA6651B-6EE5-491E-A642-2D3E801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76875"/>
            <a:ext cx="1714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₹104.80</a:t>
            </a:r>
          </a:p>
        </p:txBody>
      </p:sp>
      <p:sp>
        <p:nvSpPr>
          <p:cNvPr id="21" name="37">
            <a:extLst xmlns:a="http://schemas.openxmlformats.org/drawingml/2006/main">
              <a:ext uri="{FF2B5EF4-FFF2-40B4-BE49-F238E27FC236}">
                <a16:creationId xmlns:a16="http://schemas.microsoft.com/office/drawing/2014/main" id="{FF172355-4C7E-4F7D-9DCD-926ED2A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2000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22" name="1">
            <a:extLst xmlns:a="http://schemas.openxmlformats.org/drawingml/2006/main">
              <a:ext uri="{FF2B5EF4-FFF2-40B4-BE49-F238E27FC236}">
                <a16:creationId xmlns:a16="http://schemas.microsoft.com/office/drawing/2014/main" id="{96C891B7-E8FC-4FF5-A23A-9B18787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76875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0">
            <a:extLst xmlns:a="http://schemas.openxmlformats.org/drawingml/2006/main">
              <a:ext uri="{FF2B5EF4-FFF2-40B4-BE49-F238E27FC236}">
                <a16:creationId xmlns:a16="http://schemas.microsoft.com/office/drawing/2014/main" id="{08D46C44-4ECF-4E97-AC3D-B993824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476875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10.12%">
            <a:extLst xmlns:a="http://schemas.openxmlformats.org/drawingml/2006/main">
              <a:ext uri="{FF2B5EF4-FFF2-40B4-BE49-F238E27FC236}">
                <a16:creationId xmlns:a16="http://schemas.microsoft.com/office/drawing/2014/main" id="{F91ACE4E-21BC-4711-8FD2-30E08BB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476875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10.12%</a:t>
            </a:r>
          </a:p>
        </p:txBody>
      </p:sp>
      <p:sp>
        <p:nvSpPr>
          <p:cNvPr id="25" name="Stock Scarcity">
            <a:extLst xmlns:a="http://schemas.openxmlformats.org/drawingml/2006/main">
              <a:ext uri="{FF2B5EF4-FFF2-40B4-BE49-F238E27FC236}">
                <a16:creationId xmlns:a16="http://schemas.microsoft.com/office/drawing/2014/main" id="{655674D1-D3B9-49D4-A56B-F23A768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53175"/>
            <a:ext cx="5143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Stock Scarcity</a:t>
            </a:r>
          </a:p>
        </p:txBody>
      </p:sp>
      <p:sp>
        <p:nvSpPr>
          <p:cNvPr id="26" name="₹12.29">
            <a:extLst xmlns:a="http://schemas.openxmlformats.org/drawingml/2006/main">
              <a:ext uri="{FF2B5EF4-FFF2-40B4-BE49-F238E27FC236}">
                <a16:creationId xmlns:a16="http://schemas.microsoft.com/office/drawing/2014/main" id="{176025FF-B69F-4CD7-92B9-0AC0450C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353175"/>
            <a:ext cx="1714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₹12.29</a:t>
            </a:r>
          </a:p>
        </p:txBody>
      </p:sp>
      <p:sp>
        <p:nvSpPr>
          <p:cNvPr id="27" name="8">
            <a:extLst xmlns:a="http://schemas.openxmlformats.org/drawingml/2006/main">
              <a:ext uri="{FF2B5EF4-FFF2-40B4-BE49-F238E27FC236}">
                <a16:creationId xmlns:a16="http://schemas.microsoft.com/office/drawing/2014/main" id="{A8F46A70-B71B-4F13-999B-FD9EBE92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53175"/>
            <a:ext cx="2000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8" name="0">
            <a:extLst xmlns:a="http://schemas.openxmlformats.org/drawingml/2006/main">
              <a:ext uri="{FF2B5EF4-FFF2-40B4-BE49-F238E27FC236}">
                <a16:creationId xmlns:a16="http://schemas.microsoft.com/office/drawing/2014/main" id="{938164A9-6A17-4342-B582-0C8B80F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53175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0">
            <a:extLst xmlns:a="http://schemas.openxmlformats.org/drawingml/2006/main">
              <a:ext uri="{FF2B5EF4-FFF2-40B4-BE49-F238E27FC236}">
                <a16:creationId xmlns:a16="http://schemas.microsoft.com/office/drawing/2014/main" id="{A48908D7-185A-44ED-97A5-50DA76B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5.65%">
            <a:extLst xmlns:a="http://schemas.openxmlformats.org/drawingml/2006/main">
              <a:ext uri="{FF2B5EF4-FFF2-40B4-BE49-F238E27FC236}">
                <a16:creationId xmlns:a16="http://schemas.microsoft.com/office/drawing/2014/main" id="{304D8E4E-FEF1-40F3-AAD5-F049A2E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353175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5.65%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FE424-4881-41DD-AD12-B8977A1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86625"/>
            <a:ext cx="581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32" name="The ad did not prove revenue, but it">
            <a:extLst xmlns:a="http://schemas.openxmlformats.org/drawingml/2006/main">
              <a:ext uri="{FF2B5EF4-FFF2-40B4-BE49-F238E27FC236}">
                <a16:creationId xmlns:a16="http://schemas.microsoft.com/office/drawing/2014/main" id="{23458468-0F7D-437D-8A96-CD28224E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515225"/>
            <a:ext cx="5276850" cy="80962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ad did not prove revenue, but it did prove the recommended scarcity angle produced deeper-funnel actions.</a:t>
            </a:r>
          </a:p>
        </p:txBody>
      </p:sp>
      <p:sp>
        <p:nvSpPr>
          <p:cNvPr id="33" name="Ad-level data verified via get_ad_in">
            <a:extLst xmlns:a="http://schemas.openxmlformats.org/drawingml/2006/main">
              <a:ext uri="{FF2B5EF4-FFF2-40B4-BE49-F238E27FC236}">
                <a16:creationId xmlns:a16="http://schemas.microsoft.com/office/drawing/2014/main" id="{921B0592-FD57-4A02-8E6E-3DD03F9A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Ad-level data verified via get_ad_insights for May 3-May 6, 2026.</a:t>
            </a:r>
          </a:p>
        </p:txBody>
      </p:sp>
    </p:spTree>
    <p:extLst>
      <p:ext uri="{BB962C8B-B14F-4D97-AF65-F5344CB8AC3E}">
        <p14:creationId xmlns:p14="http://schemas.microsoft.com/office/powerpoint/2010/main" val="20914006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D6EDA-3A92-46E6-A47F-6B4680B5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judge loop improved the creative">
            <a:extLst xmlns:a="http://schemas.openxmlformats.org/drawingml/2006/main">
              <a:ext uri="{FF2B5EF4-FFF2-40B4-BE49-F238E27FC236}">
                <a16:creationId xmlns:a16="http://schemas.microsoft.com/office/drawing/2014/main" id="{081E78FB-0FE2-4AEA-959E-74D475F9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judge loop improved the creative before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D13CC-8782-45FA-AC4A-988D47C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The first copy was acceptable but ge">
            <a:extLst xmlns:a="http://schemas.openxmlformats.org/drawingml/2006/main">
              <a:ext uri="{FF2B5EF4-FFF2-40B4-BE49-F238E27FC236}">
                <a16:creationId xmlns:a16="http://schemas.microsoft.com/office/drawing/2014/main" id="{4BADA433-5425-4369-A558-DB6B8C0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14300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first copy was acceptable but generic. The judge forced the offer and brand meaning into the first read.</a:t>
            </a:r>
          </a:p>
        </p:txBody>
      </p:sp>
      <p:sp>
        <p:nvSpPr>
          <p:cNvPr id="5" name="29/40">
            <a:extLst xmlns:a="http://schemas.openxmlformats.org/drawingml/2006/main">
              <a:ext uri="{FF2B5EF4-FFF2-40B4-BE49-F238E27FC236}">
                <a16:creationId xmlns:a16="http://schemas.microsoft.com/office/drawing/2014/main" id="{06EEE328-C9B9-435D-A5D9-CFB0B87C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38550"/>
            <a:ext cx="2476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FF6B6B"/>
                </a:solidFill>
                <a:latin typeface="Aptos"/>
                <a:ea typeface="Aptos"/>
                <a:cs typeface="Aptos"/>
              </a:rPr>
              <a:t>29/40</a:t>
            </a:r>
          </a:p>
        </p:txBody>
      </p:sp>
      <p:sp>
        <p:nvSpPr>
          <p:cNvPr id="6" name="first output">
            <a:extLst xmlns:a="http://schemas.openxmlformats.org/drawingml/2006/main">
              <a:ext uri="{FF2B5EF4-FFF2-40B4-BE49-F238E27FC236}">
                <a16:creationId xmlns:a16="http://schemas.microsoft.com/office/drawing/2014/main" id="{C2D08635-2AD8-4857-AD59-6B14649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14850"/>
            <a:ext cx="2476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first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C8F4A-A1F0-4E6C-B409-5E26B3B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8" name="36/40">
            <a:extLst xmlns:a="http://schemas.openxmlformats.org/drawingml/2006/main">
              <a:ext uri="{FF2B5EF4-FFF2-40B4-BE49-F238E27FC236}">
                <a16:creationId xmlns:a16="http://schemas.microsoft.com/office/drawing/2014/main" id="{353EB963-BCCF-4F30-9854-B13596D4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38550"/>
            <a:ext cx="2476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36/40</a:t>
            </a:r>
          </a:p>
        </p:txBody>
      </p:sp>
      <p:sp>
        <p:nvSpPr>
          <p:cNvPr id="9" name="improved output">
            <a:extLst xmlns:a="http://schemas.openxmlformats.org/drawingml/2006/main">
              <a:ext uri="{FF2B5EF4-FFF2-40B4-BE49-F238E27FC236}">
                <a16:creationId xmlns:a16="http://schemas.microsoft.com/office/drawing/2014/main" id="{AB2C4A4C-B95A-47DA-A892-13708DD7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14850"/>
            <a:ext cx="2476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9B2A6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9B2A6"/>
                </a:solidFill>
                <a:latin typeface="Aptos"/>
                <a:ea typeface="Aptos"/>
                <a:cs typeface="Aptos"/>
              </a:rPr>
              <a:t>improved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DB6B1-9F16-48CE-BC8A-E3F952C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619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1" name="Critique: hook was clear but generic">
            <a:extLst xmlns:a="http://schemas.openxmlformats.org/drawingml/2006/main">
              <a:ext uri="{FF2B5EF4-FFF2-40B4-BE49-F238E27FC236}">
                <a16:creationId xmlns:a16="http://schemas.microsoft.com/office/drawing/2014/main" id="{0978F593-21F8-474B-83CB-81822EF4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038850"/>
            <a:ext cx="5657850" cy="1333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Critique: hook was clear but generic; it missed free shipping and QADR's meaning. Regenerate with real scarcity, offer clarity, and no invented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20811-D01F-428B-8C9C-AFA3744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810250"/>
            <a:ext cx="619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3" name="Improved hook: Only 9 QADR hoodies l">
            <a:extLst xmlns:a="http://schemas.openxmlformats.org/drawingml/2006/main">
              <a:ext uri="{FF2B5EF4-FFF2-40B4-BE49-F238E27FC236}">
                <a16:creationId xmlns:a16="http://schemas.microsoft.com/office/drawing/2014/main" id="{12291F90-7C62-4A3D-8758-283BE0DF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038850"/>
            <a:ext cx="5657850" cy="1333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Improved hook: Only 9 QADR hoodies left. Free shipping on this limited drop. QADR means everything has its timing.</a:t>
            </a:r>
          </a:p>
        </p:txBody>
      </p:sp>
      <p:sp>
        <p:nvSpPr>
          <p:cNvPr id="14" name="Rubric criteria: avatar, competitor ">
            <a:extLst xmlns:a="http://schemas.openxmlformats.org/drawingml/2006/main">
              <a:ext uri="{FF2B5EF4-FFF2-40B4-BE49-F238E27FC236}">
                <a16:creationId xmlns:a16="http://schemas.microsoft.com/office/drawing/2014/main" id="{E159C42C-5B90-4BF1-8D66-EFB43A2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Rubric criteria: avatar, competitor angle, hook, offer clarity, proof, Meta fit, guardrails,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696166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8D53F-0BC3-4385-ADE0-48551303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The workflow is autonomous in judgme">
            <a:extLst xmlns:a="http://schemas.openxmlformats.org/drawingml/2006/main">
              <a:ext uri="{FF2B5EF4-FFF2-40B4-BE49-F238E27FC236}">
                <a16:creationId xmlns:a16="http://schemas.microsoft.com/office/drawing/2014/main" id="{B68F8219-6D76-4E25-8DE8-6CC0646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workflow is autonomous in judgment, not spend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2E99F-426F-4DF3-A5AF-D1FC3E4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Allowed">
            <a:extLst xmlns:a="http://schemas.openxmlformats.org/drawingml/2006/main">
              <a:ext uri="{FF2B5EF4-FFF2-40B4-BE49-F238E27FC236}">
                <a16:creationId xmlns:a16="http://schemas.microsoft.com/office/drawing/2014/main" id="{0E205AFC-0496-4E69-8F5D-D4005D93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3238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Allowed</a:t>
            </a:r>
          </a:p>
        </p:txBody>
      </p:sp>
      <p:sp>
        <p:nvSpPr>
          <p:cNvPr id="5" name="Analyze performance&#10;Draft offers and">
            <a:extLst xmlns:a="http://schemas.openxmlformats.org/drawingml/2006/main">
              <a:ext uri="{FF2B5EF4-FFF2-40B4-BE49-F238E27FC236}">
                <a16:creationId xmlns:a16="http://schemas.microsoft.com/office/drawing/2014/main" id="{2CD853B4-FD82-4EE9-9B0C-44B2C458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6572250" cy="2095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Analyze performance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Draft offers and ads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Recommend budget and structure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Flag spend and tracking risk</a:t>
            </a:r>
          </a:p>
        </p:txBody>
      </p:sp>
      <p:sp>
        <p:nvSpPr>
          <p:cNvPr id="6" name="Requires approval">
            <a:extLst xmlns:a="http://schemas.openxmlformats.org/drawingml/2006/main">
              <a:ext uri="{FF2B5EF4-FFF2-40B4-BE49-F238E27FC236}">
                <a16:creationId xmlns:a16="http://schemas.microsoft.com/office/drawing/2014/main" id="{DF34DE0B-D7FE-49EC-AB91-E3DEC01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49530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Requires approval</a:t>
            </a:r>
          </a:p>
        </p:txBody>
      </p:sp>
      <p:sp>
        <p:nvSpPr>
          <p:cNvPr id="7" name="Publishing ads&#10;Pausing campaigns&#10;Cha">
            <a:extLst xmlns:a="http://schemas.openxmlformats.org/drawingml/2006/main">
              <a:ext uri="{FF2B5EF4-FFF2-40B4-BE49-F238E27FC236}">
                <a16:creationId xmlns:a16="http://schemas.microsoft.com/office/drawing/2014/main" id="{9A46DE95-5304-4751-A03A-2D4407D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95625"/>
            <a:ext cx="6858000" cy="23812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Publishing ads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Pausing campaigns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Changing budgets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Editing targeting or placements</a:t>
            </a:r>
          </a:p>
          <a:p xmlns:a="http://schemas.openxmlformats.org/drawingml/2006/main">
            <a:pPr algn="l">
              <a:defRPr sz="2250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Changing live offer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0E02-884E-4283-9548-298AC9A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476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4A"/>
          </a:solidFill>
          <a:ln xmlns:a="http://schemas.openxmlformats.org/drawingml/2006/main">
            <a:solidFill>
              <a:srgbClr val="343B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628DC-585F-4805-B3D3-975FE0B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048500"/>
            <a:ext cx="13049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1B24"/>
          </a:solidFill>
          <a:ln xmlns:a="http://schemas.openxmlformats.org/drawingml/2006/main" w="9525">
            <a:solidFill>
              <a:srgbClr val="343B4A"/>
            </a:solidFill>
          </a:ln>
        </p:spPr>
      </p:sp>
      <p:sp>
        <p:nvSpPr>
          <p:cNvPr id="10" name="Guardrail lesson from this run: sche">
            <a:extLst xmlns:a="http://schemas.openxmlformats.org/drawingml/2006/main">
              <a:ext uri="{FF2B5EF4-FFF2-40B4-BE49-F238E27FC236}">
                <a16:creationId xmlns:a16="http://schemas.microsoft.com/office/drawing/2014/main" id="{59324DDE-3548-4900-BD05-4B0A5EAC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277100"/>
            <a:ext cx="12515850" cy="90487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Guardrail lesson from this run: schedule validation should be stricter. The recommendation said stop before May 6 IST; Meta showed a May 6 22:00 UTC end time, though no spend was returned after May 5.</a:t>
            </a:r>
          </a:p>
        </p:txBody>
      </p:sp>
      <p:sp>
        <p:nvSpPr>
          <p:cNvPr id="11" name="Harness: HUMAN_APPROVAL_POLICY.md">
            <a:extLst xmlns:a="http://schemas.openxmlformats.org/drawingml/2006/main">
              <a:ext uri="{FF2B5EF4-FFF2-40B4-BE49-F238E27FC236}">
                <a16:creationId xmlns:a16="http://schemas.microsoft.com/office/drawing/2014/main" id="{3771B590-C82B-4489-A073-BE972DD3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Harness: HUMAN_APPROVAL_POLICY.md</a:t>
            </a:r>
          </a:p>
        </p:txBody>
      </p:sp>
    </p:spTree>
    <p:extLst>
      <p:ext uri="{BB962C8B-B14F-4D97-AF65-F5344CB8AC3E}">
        <p14:creationId xmlns:p14="http://schemas.microsoft.com/office/powerpoint/2010/main" val="19492764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7771CF-CD59-48D8-8F81-6349D2F3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A"/>
          </a:solidFill>
          <a:ln xmlns:a="http://schemas.openxmlformats.org/drawingml/2006/main" w="9525">
            <a:solidFill>
              <a:srgbClr val="10131A"/>
            </a:solidFill>
          </a:ln>
        </p:spPr>
      </p:sp>
      <p:sp>
        <p:nvSpPr>
          <p:cNvPr id="2" name="What this proves">
            <a:extLst xmlns:a="http://schemas.openxmlformats.org/drawingml/2006/main">
              <a:ext uri="{FF2B5EF4-FFF2-40B4-BE49-F238E27FC236}">
                <a16:creationId xmlns:a16="http://schemas.microsoft.com/office/drawing/2014/main" id="{03EA4891-2D9B-451A-B824-F0E589AC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573000" cy="8763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What this proves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77E3D-881F-4A2C-BCE2-3B09E3B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7F"/>
          </a:solidFill>
          <a:ln xmlns:a="http://schemas.openxmlformats.org/drawingml/2006/main">
            <a:solidFill>
              <a:srgbClr val="35D07F"/>
            </a:solidFill>
          </a:ln>
        </p:spPr>
      </p:sp>
      <p:sp>
        <p:nvSpPr>
          <p:cNvPr id="4" name="This is a Level 2 builder artifact: ">
            <a:extLst xmlns:a="http://schemas.openxmlformats.org/drawingml/2006/main">
              <a:ext uri="{FF2B5EF4-FFF2-40B4-BE49-F238E27FC236}">
                <a16:creationId xmlns:a16="http://schemas.microsoft.com/office/drawing/2014/main" id="{38085A10-16FC-4949-ABDD-C8E77211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13049250" cy="1104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This is a Level 2 builder artifact: it connects tools, judgment, evals, and guardrails to a real commerce outcome signal.</a:t>
            </a:r>
          </a:p>
        </p:txBody>
      </p:sp>
      <p:sp>
        <p:nvSpPr>
          <p:cNvPr id="5" name="REAL BUSINESS">
            <a:extLst xmlns:a="http://schemas.openxmlformats.org/drawingml/2006/main">
              <a:ext uri="{FF2B5EF4-FFF2-40B4-BE49-F238E27FC236}">
                <a16:creationId xmlns:a16="http://schemas.microsoft.com/office/drawing/2014/main" id="{2E1E9D03-3455-45E8-9EDE-326C8900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2667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REAL BUSINESS</a:t>
            </a:r>
          </a:p>
        </p:txBody>
      </p:sp>
      <p:sp>
        <p:nvSpPr>
          <p:cNvPr id="6" name="QADR Fits, one hoodie product, India">
            <a:extLst xmlns:a="http://schemas.openxmlformats.org/drawingml/2006/main">
              <a:ext uri="{FF2B5EF4-FFF2-40B4-BE49-F238E27FC236}">
                <a16:creationId xmlns:a16="http://schemas.microsoft.com/office/drawing/2014/main" id="{70B6BE25-3B8E-41C9-933F-094F526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98107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QADR Fits, one hoodie product, India, 9 units left.</a:t>
            </a:r>
          </a:p>
        </p:txBody>
      </p:sp>
      <p:sp>
        <p:nvSpPr>
          <p:cNvPr id="7" name="REAL WORKFLOW">
            <a:extLst xmlns:a="http://schemas.openxmlformats.org/drawingml/2006/main">
              <a:ext uri="{FF2B5EF4-FFF2-40B4-BE49-F238E27FC236}">
                <a16:creationId xmlns:a16="http://schemas.microsoft.com/office/drawing/2014/main" id="{B93E6865-069C-4F5A-8F25-9DA9933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2667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REAL WORKFLOW</a:t>
            </a:r>
          </a:p>
        </p:txBody>
      </p:sp>
      <p:sp>
        <p:nvSpPr>
          <p:cNvPr id="8" name="Intake -&gt; offer -&gt; creative -&gt; Meta ">
            <a:extLst xmlns:a="http://schemas.openxmlformats.org/drawingml/2006/main">
              <a:ext uri="{FF2B5EF4-FFF2-40B4-BE49-F238E27FC236}">
                <a16:creationId xmlns:a16="http://schemas.microsoft.com/office/drawing/2014/main" id="{C287D09E-B939-4900-A4BB-DC4B41B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86350"/>
            <a:ext cx="98107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Intake -&gt; offer -&gt; creative -&gt; Meta launch -&gt; MCP review.</a:t>
            </a:r>
          </a:p>
        </p:txBody>
      </p:sp>
      <p:sp>
        <p:nvSpPr>
          <p:cNvPr id="9" name="REAL EVIDENCE">
            <a:extLst xmlns:a="http://schemas.openxmlformats.org/drawingml/2006/main">
              <a:ext uri="{FF2B5EF4-FFF2-40B4-BE49-F238E27FC236}">
                <a16:creationId xmlns:a16="http://schemas.microsoft.com/office/drawing/2014/main" id="{2964B49E-6815-4094-BA23-3F07230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667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REAL EVIDENCE</a:t>
            </a:r>
          </a:p>
        </p:txBody>
      </p:sp>
      <p:sp>
        <p:nvSpPr>
          <p:cNvPr id="10" name="₹270.06 spent, 8 ATCs, 3 checkouts, ">
            <a:extLst xmlns:a="http://schemas.openxmlformats.org/drawingml/2006/main">
              <a:ext uri="{FF2B5EF4-FFF2-40B4-BE49-F238E27FC236}">
                <a16:creationId xmlns:a16="http://schemas.microsoft.com/office/drawing/2014/main" id="{FA595EAD-3311-48FD-9E24-88481107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81700"/>
            <a:ext cx="98107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₹270.06 spent, 8 ATCs, 3 checkouts, 1 payment-info event.</a:t>
            </a:r>
          </a:p>
        </p:txBody>
      </p:sp>
      <p:sp>
        <p:nvSpPr>
          <p:cNvPr id="11" name="HONEST BOUNDARY">
            <a:extLst xmlns:a="http://schemas.openxmlformats.org/drawingml/2006/main">
              <a:ext uri="{FF2B5EF4-FFF2-40B4-BE49-F238E27FC236}">
                <a16:creationId xmlns:a16="http://schemas.microsoft.com/office/drawing/2014/main" id="{53C9375E-66EB-4437-8FBC-BFDE04BB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15150"/>
            <a:ext cx="26670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5D07F"/>
                </a:solidFill>
                <a:latin typeface="Aptos"/>
                <a:ea typeface="Aptos"/>
                <a:cs typeface="Aptos"/>
              </a:rPr>
              <a:t>HONEST BOUNDARY</a:t>
            </a:r>
          </a:p>
        </p:txBody>
      </p:sp>
      <p:sp>
        <p:nvSpPr>
          <p:cNvPr id="12" name="No sale or ROAS claimed without purc">
            <a:extLst xmlns:a="http://schemas.openxmlformats.org/drawingml/2006/main">
              <a:ext uri="{FF2B5EF4-FFF2-40B4-BE49-F238E27FC236}">
                <a16:creationId xmlns:a16="http://schemas.microsoft.com/office/drawing/2014/main" id="{2DB2837E-48DD-4F75-9D07-C9ADE0B8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877050"/>
            <a:ext cx="98107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F6F0E6"/>
                </a:solidFill>
                <a:latin typeface="Aptos"/>
                <a:ea typeface="Aptos"/>
                <a:cs typeface="Aptos"/>
              </a:rPr>
              <a:t>No sale or ROAS claimed without purchase event evidence.</a:t>
            </a:r>
          </a:p>
        </p:txBody>
      </p:sp>
      <p:sp>
        <p:nvSpPr>
          <p:cNvPr id="13" name="Next proof step: pair Meta intent da">
            <a:extLst xmlns:a="http://schemas.openxmlformats.org/drawingml/2006/main">
              <a:ext uri="{FF2B5EF4-FFF2-40B4-BE49-F238E27FC236}">
                <a16:creationId xmlns:a16="http://schemas.microsoft.com/office/drawing/2014/main" id="{68AF1A32-1DCE-4D49-BD15-604EBB5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8477250"/>
            <a:ext cx="132397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B84D"/>
                </a:solidFill>
                <a:latin typeface="Aptos"/>
                <a:ea typeface="Aptos"/>
                <a:cs typeface="Aptos"/>
              </a:rPr>
              <a:t>Next proof step: pair Meta intent data with Shopify order evidence or founder WhatsApp confirmation.</a:t>
            </a:r>
          </a:p>
        </p:txBody>
      </p:sp>
      <p:sp>
        <p:nvSpPr>
          <p:cNvPr id="14" name="Project path: meta-ads-agency-harnes">
            <a:extLst xmlns:a="http://schemas.openxmlformats.org/drawingml/2006/main">
              <a:ext uri="{FF2B5EF4-FFF2-40B4-BE49-F238E27FC236}">
                <a16:creationId xmlns:a16="http://schemas.microsoft.com/office/drawing/2014/main" id="{79D083CE-8D23-4E6A-A39F-7D37EA7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381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1013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67D8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67D8A"/>
                </a:solidFill>
                <a:latin typeface="Aptos"/>
                <a:ea typeface="Aptos"/>
                <a:cs typeface="Aptos"/>
              </a:rPr>
              <a:t>Project path: meta-ads-agency-harness</a:t>
            </a:r>
          </a:p>
        </p:txBody>
      </p:sp>
    </p:spTree>
    <p:extLst>
      <p:ext uri="{BB962C8B-B14F-4D97-AF65-F5344CB8AC3E}">
        <p14:creationId xmlns:p14="http://schemas.microsoft.com/office/powerpoint/2010/main" val="1142157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2026-05-09T09:49:02.2560000Z</dcterms:created>
  <dcterms:modified xsi:type="dcterms:W3CDTF">2026-05-09T09:49:02.2570000Z</dcterms:modified>
</coreProperties>
</file>